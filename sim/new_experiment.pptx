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6" r:id="rId2"/>
    <p:sldId id="287" r:id="rId3"/>
    <p:sldId id="289" r:id="rId4"/>
    <p:sldId id="28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5DE32-2735-4AE2-9102-B236A24F625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24A41-E5FC-492C-BAAE-C87ED2BC6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88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AB2C1-9D63-4189-8049-30AA44D18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67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6431A-CFE9-A992-8575-4E368A1D4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3569D0-F804-FEDC-01BC-AD1FD81A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1C552B-50BD-83EF-DDD3-653F6E89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D89F75-6E29-F7CD-ABC5-F7CFEA62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DD90C-0F20-6806-B2D6-860DFBB38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22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5136B-DB36-83E2-324D-11BBC8B6D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1E607-1566-5AA2-8C91-A81A17FCF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2D06A9-B714-1AF3-369C-D4764D5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4339B5-C0D6-37B3-89DB-EDC8AE03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0C7507-D26C-C103-5210-2B77FC2B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01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F8EAD-C596-4300-0E2D-7EF7788A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657CF3-C613-B8E5-FB2D-AD53F8157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A01E84-5CCC-4B65-EB8B-7E8749E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D3D8C4-3FAA-C354-B8E6-0C0F5EB7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C0725-680A-8B30-7B5F-93F0043A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97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F7885-84D4-F90D-95EB-7235E06F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4E699D-9C7A-DCFA-3209-D95D8AA9E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92D811-50EC-185B-9BB4-724B72268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ED210E-8BD3-53F7-41AA-3759BC76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F78AB4-DAA6-663E-15E6-A2DF49C8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6535F7-5692-4A61-3D23-CD2CAB8C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28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16BF92-FE7C-CCB6-A239-4430824B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AA216E-633C-681E-C51F-CC6DD8768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92EC48-FDDA-B90D-0782-25AFE925D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BAD3D6-2F65-A915-4FAD-CBF048223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AC535A-8A87-B12B-365E-9027472FA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96F748-BD76-E568-F3D8-AD94FC28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47657A-3CA0-DF42-1DDB-DCF31F5D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543C28-3A31-F089-08AB-72A636BD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25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7E77B-FCE0-DE43-F610-7ED82BBE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68D1F3-7142-F99A-E13E-B9780DD48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618AB3-CEE7-60A8-6A86-C45C6DE4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CBC43D-51D5-D084-E00C-279DCBA3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5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D621D9-4EA0-B8C7-BFC5-3B24F303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513639-27D7-4FB3-7853-9C5D3C5D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AA429B-CAB3-E7A4-2131-07616B11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94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06FAE-7FA9-9DD3-4D46-217992F6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E79E3F-8912-3A5F-A63B-8F5ACA193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6BE680-8FBB-C955-9859-A67EDEE71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2FF207-A39D-5089-F2BA-220329236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666768-692A-0473-6C02-4C3BA270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ACA758-A767-0752-BC75-3AE7E658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5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CC385-E4A4-DA3C-8511-9E118BB2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95CB72-9F73-4A86-7B07-BDDE8A4E4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1A2677-7B06-E68D-F840-23DC48265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B4D49C-2067-9E7A-7303-C9F4AB08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60432C-88E0-D36B-780C-71F1BD07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3C49C1-F5F8-708A-CC90-69D3518A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62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B36F0-3F92-BA76-F7E7-0ECFFEF5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CDF0AA-1812-CAE6-0FB7-5A5944A23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92B746-4437-A6AC-8A1F-1853FD8DD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D4796E-E99B-8E7D-4A18-6D3C3367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BC7E91-57FF-FC89-4FA4-046C55FB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810BA7-D301-5955-A649-B0BD347DA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06DD5B-2B7A-039E-17D7-F93557834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159A16-885B-B3FD-9D9A-230C494B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085239-F653-17BD-4DB9-8DE5A9A7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C811B5-1C33-B0E5-F93F-89435587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22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B0EF57-8953-7751-74EB-80071DC9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011108-F3D8-ED95-78A5-C847ADBF1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8211C9-DEDA-0D5A-1797-4B587808D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F4BC1-EB09-40B1-9437-3557B4768019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7AB9D-CD7C-2CC2-B2B3-F9CC9CB02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D64B7A-DF4D-2672-705D-2F87A276E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1EDE7-3818-4FFB-9672-C9AA3E35F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29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Exp 26A  ·  Coder A/B rep1 — Pass A (size)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48640"/>
            <a:ext cx="115214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9FB4CE"/>
                </a:solidFill>
                <a:latin typeface="Arial"/>
              </a:rPr>
              <a:t>policy = size (rep1)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78992"/>
            <a:ext cx="4160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Model:  </a:t>
            </a:r>
            <a:r>
              <a:rPr sz="1250" b="0">
                <a:solidFill>
                  <a:srgbClr val="222830"/>
                </a:solidFill>
                <a:latin typeface="Arial"/>
              </a:rPr>
              <a:t>qwen3-coder-30b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Dataset:  </a:t>
            </a:r>
            <a:r>
              <a:rPr sz="1100" b="0">
                <a:solidFill>
                  <a:srgbClr val="222830"/>
                </a:solidFill>
                <a:latin typeface="Arial"/>
              </a:rPr>
              <a:t>SWE-bench Verified subset — 80 tasks (sympy/pytest/pylint/requests/flask/seaborn)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Backend:  </a:t>
            </a:r>
            <a:r>
              <a:rPr sz="1100" b="0">
                <a:solidFill>
                  <a:srgbClr val="222830"/>
                </a:solidFill>
                <a:latin typeface="Arial"/>
              </a:rPr>
              <a:t>vLLM 0.12.0 · prefix cache ON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Concurrency:  </a:t>
            </a:r>
            <a:r>
              <a:rPr sz="1250" b="0">
                <a:solidFill>
                  <a:srgbClr val="222830"/>
                </a:solidFill>
                <a:latin typeface="Arial"/>
              </a:rPr>
              <a:t>80-way · max turns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2395728"/>
          <a:ext cx="4160520" cy="3246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prefill (prompt tok)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240.3k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decode length (tok)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5.8k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task rounds (turns)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14.6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KV cache util (avg / peak)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49% / 100%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Prefix cache hit rate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78.1%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task latency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428 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Makespan (wall)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1258 s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Throughput (gen)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366.8 tok/s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Preempt / decode calls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0.7%  (8/1167)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5742432"/>
            <a:ext cx="4160520" cy="731520"/>
          </a:xfrm>
          <a:prstGeom prst="rect">
            <a:avLst/>
          </a:prstGeom>
          <a:solidFill>
            <a:srgbClr val="F6F1E9"/>
          </a:solidFill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00" b="1">
                <a:solidFill>
                  <a:srgbClr val="555C66"/>
                </a:solidFill>
                <a:latin typeface="Arial"/>
              </a:rPr>
              <a:t>Serving:  </a:t>
            </a:r>
            <a:r>
              <a:rPr sz="1000" b="0">
                <a:solidFill>
                  <a:srgbClr val="222830"/>
                </a:solidFill>
                <a:latin typeface="Arial"/>
              </a:rPr>
              <a:t>resolved 11  ·  avg running 21  ·  max waiting 63  ·  preemptions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0241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Arial"/>
              </a:rPr>
              <a:t>KV cache curve over time</a:t>
            </a:r>
          </a:p>
        </p:txBody>
      </p:sp>
      <p:pic>
        <p:nvPicPr>
          <p:cNvPr id="9" name="Picture 8" descr="kv_2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25880"/>
            <a:ext cx="4206240" cy="2306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15400" y="10241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Arial"/>
              </a:rPr>
              <a:t>Gantt — per-program timeline</a:t>
            </a:r>
          </a:p>
        </p:txBody>
      </p:sp>
      <p:pic>
        <p:nvPicPr>
          <p:cNvPr id="11" name="Picture 10" descr="gantt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193" y="1325880"/>
            <a:ext cx="2459934" cy="502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50" b="0">
                <a:solidFill>
                  <a:srgbClr val="9AA3AE"/>
                </a:solidFill>
                <a:latin typeface="Arial"/>
              </a:rPr>
              <a:t>result/26_AB_coder_size_vs_hazard  ·  latency = decode + tool + scheduler wait (excl. grading)  ·  makespan = batch wall-clock  ·  preempt/decode calls = vLLM preemptions (last-first) / total LLM calls (sum of turns)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Exp 26B  ·  Coder A/B rep1 — Pass B (hazard_grade)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48640"/>
            <a:ext cx="115214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9FB4CE"/>
                </a:solidFill>
                <a:latin typeface="Arial"/>
              </a:rPr>
              <a:t>policy = hazard_grade (rep1)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78992"/>
            <a:ext cx="4160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Model:  </a:t>
            </a:r>
            <a:r>
              <a:rPr sz="1250" b="0">
                <a:solidFill>
                  <a:srgbClr val="222830"/>
                </a:solidFill>
                <a:latin typeface="Arial"/>
              </a:rPr>
              <a:t>qwen3-coder-30b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Dataset:  </a:t>
            </a:r>
            <a:r>
              <a:rPr sz="1100" b="0">
                <a:solidFill>
                  <a:srgbClr val="222830"/>
                </a:solidFill>
                <a:latin typeface="Arial"/>
              </a:rPr>
              <a:t>SWE-bench Verified subset — 80 tasks (sympy/pytest/pylint/requests/flask/seaborn)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Backend:  </a:t>
            </a:r>
            <a:r>
              <a:rPr sz="1100" b="0">
                <a:solidFill>
                  <a:srgbClr val="222830"/>
                </a:solidFill>
                <a:latin typeface="Arial"/>
              </a:rPr>
              <a:t>vLLM 0.12.0 · prefix cache ON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Concurrency:  </a:t>
            </a:r>
            <a:r>
              <a:rPr sz="1250" b="0">
                <a:solidFill>
                  <a:srgbClr val="222830"/>
                </a:solidFill>
                <a:latin typeface="Arial"/>
              </a:rPr>
              <a:t>80-way · max turns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2395728"/>
          <a:ext cx="4160520" cy="3246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prefill (prompt tok)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248.7k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decode length (tok)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5.5k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task rounds (turns)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15.3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KV cache util (avg / peak)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66% / 100%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Prefix cache hit rate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77.0%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task latency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469 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Makespan (wall)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1023 s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Throughput (gen)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430.2 tok/s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Preempt / decode calls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0.4%  (5/1221)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5742432"/>
            <a:ext cx="4160520" cy="731520"/>
          </a:xfrm>
          <a:prstGeom prst="rect">
            <a:avLst/>
          </a:prstGeom>
          <a:solidFill>
            <a:srgbClr val="F6F1E9"/>
          </a:solidFill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00" b="1">
                <a:solidFill>
                  <a:srgbClr val="555C66"/>
                </a:solidFill>
                <a:latin typeface="Arial"/>
              </a:rPr>
              <a:t>Serving:  </a:t>
            </a:r>
            <a:r>
              <a:rPr sz="1000" b="0">
                <a:solidFill>
                  <a:srgbClr val="222830"/>
                </a:solidFill>
                <a:latin typeface="Arial"/>
              </a:rPr>
              <a:t>resolved 14  ·  avg running 29  ·  max waiting 63  ·  preemptions 5</a:t>
            </a:r>
          </a:p>
          <a:p>
            <a:pPr algn="l"/>
            <a:r>
              <a:rPr sz="1000" b="1">
                <a:solidFill>
                  <a:srgbClr val="D62728"/>
                </a:solidFill>
                <a:latin typeface="Arial"/>
              </a:rPr>
              <a:t>Note:  </a:t>
            </a:r>
            <a:r>
              <a:rPr sz="950" b="0">
                <a:solidFill>
                  <a:srgbClr val="222830"/>
                </a:solidFill>
                <a:latin typeface="Arial"/>
              </a:rPr>
              <a:t>hazard tuned to coder: decode_reserve 1024, coder16 prior; retention knapsack fired only 17x (KV rarely saturated).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0241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Arial"/>
              </a:rPr>
              <a:t>KV cache curve over time</a:t>
            </a:r>
          </a:p>
        </p:txBody>
      </p:sp>
      <p:pic>
        <p:nvPicPr>
          <p:cNvPr id="9" name="Picture 8" descr="kv_2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325880"/>
            <a:ext cx="4206240" cy="2306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15400" y="10241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Arial"/>
              </a:rPr>
              <a:t>Gantt — per-program timeline</a:t>
            </a:r>
          </a:p>
        </p:txBody>
      </p:sp>
      <p:pic>
        <p:nvPicPr>
          <p:cNvPr id="11" name="Picture 10" descr="gant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193" y="1325880"/>
            <a:ext cx="2459934" cy="502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50" b="0">
                <a:solidFill>
                  <a:srgbClr val="9AA3AE"/>
                </a:solidFill>
                <a:latin typeface="Arial"/>
              </a:rPr>
              <a:t>result/26_AB_coder_size_vs_hazard  ·  latency = decode + tool + scheduler wait (excl. grading)  ·  makespan = batch wall-clock  ·  preempt/decode calls = vLLM preemptions (last-first) / total LLM calls (sum of turns)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Exp 27B  ·  Coder A/B rep2 — Pass B (hazard_grade)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48640"/>
            <a:ext cx="115214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9FB4CE"/>
                </a:solidFill>
                <a:latin typeface="Arial"/>
              </a:rPr>
              <a:t>policy = hazard_grade (rep2)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78992"/>
            <a:ext cx="4160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Model:  </a:t>
            </a:r>
            <a:r>
              <a:rPr sz="1250" b="0">
                <a:solidFill>
                  <a:srgbClr val="222830"/>
                </a:solidFill>
                <a:latin typeface="Arial"/>
              </a:rPr>
              <a:t>qwen3-coder-30b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Dataset:  </a:t>
            </a:r>
            <a:r>
              <a:rPr sz="1100" b="0">
                <a:solidFill>
                  <a:srgbClr val="222830"/>
                </a:solidFill>
                <a:latin typeface="Arial"/>
              </a:rPr>
              <a:t>SWE-bench Verified subset — 80 tasks (sympy/pytest/pylint/requests/flask/seaborn)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Backend:  </a:t>
            </a:r>
            <a:r>
              <a:rPr sz="1100" b="0">
                <a:solidFill>
                  <a:srgbClr val="222830"/>
                </a:solidFill>
                <a:latin typeface="Arial"/>
              </a:rPr>
              <a:t>vLLM 0.12.0 · prefix cache ON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Concurrency:  </a:t>
            </a:r>
            <a:r>
              <a:rPr sz="1250" b="0">
                <a:solidFill>
                  <a:srgbClr val="222830"/>
                </a:solidFill>
                <a:latin typeface="Arial"/>
              </a:rPr>
              <a:t>80-way · max turns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2395728"/>
          <a:ext cx="4160520" cy="3246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prefill (prompt tok)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251.3k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decode length (tok)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6.1k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task rounds (turns)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15.1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KV cache util (avg / peak)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64% / 100%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Prefix cache hit rate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80.5%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task latency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473 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Makespan (wall)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1116 s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Throughput (gen)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435.4 tok/s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Preempt / decode calls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0.6%  (7/1211)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5742432"/>
            <a:ext cx="4160520" cy="731520"/>
          </a:xfrm>
          <a:prstGeom prst="rect">
            <a:avLst/>
          </a:prstGeom>
          <a:solidFill>
            <a:srgbClr val="F6F1E9"/>
          </a:solidFill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00" b="1">
                <a:solidFill>
                  <a:srgbClr val="555C66"/>
                </a:solidFill>
                <a:latin typeface="Arial"/>
              </a:rPr>
              <a:t>Serving:  </a:t>
            </a:r>
            <a:r>
              <a:rPr sz="1000" b="0">
                <a:solidFill>
                  <a:srgbClr val="222830"/>
                </a:solidFill>
                <a:latin typeface="Arial"/>
              </a:rPr>
              <a:t>resolved 16  ·  avg running 27  ·  max waiting 61  ·  preemptions 7</a:t>
            </a:r>
          </a:p>
          <a:p>
            <a:pPr algn="l"/>
            <a:r>
              <a:rPr sz="1000" b="1">
                <a:solidFill>
                  <a:srgbClr val="D62728"/>
                </a:solidFill>
                <a:latin typeface="Arial"/>
              </a:rPr>
              <a:t>Note:  </a:t>
            </a:r>
            <a:r>
              <a:rPr sz="950" b="0">
                <a:solidFill>
                  <a:srgbClr val="222830"/>
                </a:solidFill>
                <a:latin typeface="Arial"/>
              </a:rPr>
              <a:t>hazard tuned to coder: decode_reserve 1024, coder16 prior; retention knapsack fired only 15x (KV rarely saturated).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0241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Arial"/>
              </a:rPr>
              <a:t>KV cache curve over time</a:t>
            </a:r>
          </a:p>
        </p:txBody>
      </p:sp>
      <p:pic>
        <p:nvPicPr>
          <p:cNvPr id="9" name="Picture 8" descr="kv_2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25880"/>
            <a:ext cx="4206240" cy="2306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15400" y="10241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Arial"/>
              </a:rPr>
              <a:t>Gantt — per-program timeline</a:t>
            </a:r>
          </a:p>
        </p:txBody>
      </p:sp>
      <p:pic>
        <p:nvPicPr>
          <p:cNvPr id="11" name="Picture 10" descr="gantt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193" y="1325880"/>
            <a:ext cx="2459934" cy="502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50" b="0">
                <a:solidFill>
                  <a:srgbClr val="9AA3AE"/>
                </a:solidFill>
                <a:latin typeface="Arial"/>
              </a:rPr>
              <a:t>result/27_AB_coder_size_vs_hazard  ·  latency = decode + tool + scheduler wait (excl. grading)  ·  makespan = batch wall-clock  ·  preempt/decode calls = vLLM preemptions (last-first) / total LLM calls (sum of turns)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Exp 27A  ·  Coder A/B rep2 — Pass A (size)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48640"/>
            <a:ext cx="115214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9FB4CE"/>
                </a:solidFill>
                <a:latin typeface="Arial"/>
              </a:rPr>
              <a:t>policy = size (rep2)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78992"/>
            <a:ext cx="4160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Model:  </a:t>
            </a:r>
            <a:r>
              <a:rPr sz="1250" b="0">
                <a:solidFill>
                  <a:srgbClr val="222830"/>
                </a:solidFill>
                <a:latin typeface="Arial"/>
              </a:rPr>
              <a:t>qwen3-coder-30b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Dataset:  </a:t>
            </a:r>
            <a:r>
              <a:rPr sz="1100" b="0">
                <a:solidFill>
                  <a:srgbClr val="222830"/>
                </a:solidFill>
                <a:latin typeface="Arial"/>
              </a:rPr>
              <a:t>SWE-bench Verified subset — 80 tasks (sympy/pytest/pylint/requests/flask/seaborn)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Backend:  </a:t>
            </a:r>
            <a:r>
              <a:rPr sz="1100" b="0">
                <a:solidFill>
                  <a:srgbClr val="222830"/>
                </a:solidFill>
                <a:latin typeface="Arial"/>
              </a:rPr>
              <a:t>vLLM 0.12.0 · prefix cache ON</a:t>
            </a:r>
          </a:p>
          <a:p>
            <a:pPr algn="l"/>
            <a:r>
              <a:rPr sz="1250" b="1">
                <a:solidFill>
                  <a:srgbClr val="555C66"/>
                </a:solidFill>
                <a:latin typeface="Arial"/>
              </a:rPr>
              <a:t>Concurrency:  </a:t>
            </a:r>
            <a:r>
              <a:rPr sz="1250" b="0">
                <a:solidFill>
                  <a:srgbClr val="222830"/>
                </a:solidFill>
                <a:latin typeface="Arial"/>
              </a:rPr>
              <a:t>80-way · max turns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2395728"/>
          <a:ext cx="4160520" cy="3246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prefill (prompt tok)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235.1k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decode length (tok)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5.9k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task rounds (turns)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14.9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KV cache util (avg / peak)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60% / 100%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Prefix cache hit rate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77.6%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Avg task latency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467 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Makespan (wall)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1124 s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Throughput (gen)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419.7 tok/s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C66"/>
                          </a:solidFill>
                          <a:latin typeface="Arial"/>
                        </a:rPr>
                        <a:t>Preempt / decode calls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F5C9E"/>
                          </a:solidFill>
                          <a:latin typeface="Arial"/>
                        </a:rPr>
                        <a:t>0.6%  (7/1193)</a:t>
                      </a:r>
                    </a:p>
                  </a:txBody>
                  <a:tcPr marL="73152" marR="54864" marT="18288" marB="18288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5742432"/>
            <a:ext cx="4160520" cy="731520"/>
          </a:xfrm>
          <a:prstGeom prst="rect">
            <a:avLst/>
          </a:prstGeom>
          <a:solidFill>
            <a:srgbClr val="F6F1E9"/>
          </a:solidFill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00" b="1">
                <a:solidFill>
                  <a:srgbClr val="555C66"/>
                </a:solidFill>
                <a:latin typeface="Arial"/>
              </a:rPr>
              <a:t>Serving:  </a:t>
            </a:r>
            <a:r>
              <a:rPr sz="1000" b="0">
                <a:solidFill>
                  <a:srgbClr val="222830"/>
                </a:solidFill>
                <a:latin typeface="Arial"/>
              </a:rPr>
              <a:t>resolved 12  ·  avg running 25  ·  max waiting 69  ·  preemptions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0241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Arial"/>
              </a:rPr>
              <a:t>KV cache curve over time</a:t>
            </a:r>
          </a:p>
        </p:txBody>
      </p:sp>
      <p:pic>
        <p:nvPicPr>
          <p:cNvPr id="9" name="Picture 8" descr="kv_2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25880"/>
            <a:ext cx="4206240" cy="2306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15400" y="10241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Arial"/>
              </a:rPr>
              <a:t>Gantt — per-program timeline</a:t>
            </a:r>
          </a:p>
        </p:txBody>
      </p:sp>
      <p:pic>
        <p:nvPicPr>
          <p:cNvPr id="11" name="Picture 10" descr="gantt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193" y="1325880"/>
            <a:ext cx="2459934" cy="502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50" b="0">
                <a:solidFill>
                  <a:srgbClr val="9AA3AE"/>
                </a:solidFill>
                <a:latin typeface="Arial"/>
              </a:rPr>
              <a:t>result/27_AB_coder_size_vs_hazard  ·  latency = decode + tool + scheduler wait (excl. grading)  ·  makespan = batch wall-clock  ·  preempt/decode calls = vLLM preemptions (last-first) / total LLM calls (sum of turns)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Macintosh PowerPoint</Application>
  <PresentationFormat>宽屏</PresentationFormat>
  <Paragraphs>115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辰 cosmos</dc:creator>
  <cp:lastModifiedBy>隆 绫w</cp:lastModifiedBy>
  <cp:revision>1</cp:revision>
  <dcterms:created xsi:type="dcterms:W3CDTF">2026-07-23T10:10:11Z</dcterms:created>
  <dcterms:modified xsi:type="dcterms:W3CDTF">2026-08-18T12:42:08Z</dcterms:modified>
</cp:coreProperties>
</file>